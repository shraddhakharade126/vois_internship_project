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1" r:id="rId11"/>
    <p:sldId id="340" r:id="rId12"/>
    <p:sldId id="343" r:id="rId13"/>
    <p:sldId id="344" r:id="rId14"/>
    <p:sldId id="342" r:id="rId15"/>
    <p:sldId id="345" r:id="rId16"/>
    <p:sldId id="304" r:id="rId17"/>
    <p:sldId id="34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547" y="6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8/30/2026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98487" y="4147019"/>
            <a:ext cx="5821171" cy="1367373"/>
          </a:xfrm>
        </p:spPr>
        <p:txBody>
          <a:bodyPr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AICTE ID : STU6832ab424991f1748151106</a:t>
            </a:r>
          </a:p>
          <a:p>
            <a:r>
              <a:rPr lang="en-US" b="0" dirty="0">
                <a:solidFill>
                  <a:schemeClr val="tx1"/>
                </a:solidFill>
              </a:rPr>
              <a:t>~ By Shraddha Dattatray Kharade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913" y="2621903"/>
            <a:ext cx="9554547" cy="1609570"/>
          </a:xfrm>
        </p:spPr>
        <p:txBody>
          <a:bodyPr>
            <a:normAutofit/>
          </a:bodyPr>
          <a:lstStyle/>
          <a:p>
            <a:r>
              <a:rPr lang="en-GB" sz="3600" dirty="0"/>
              <a:t>Project Title :</a:t>
            </a:r>
            <a:br>
              <a:rPr lang="en-GB" sz="3200" dirty="0"/>
            </a:br>
            <a:r>
              <a:rPr lang="en-US" sz="3200" b="1" dirty="0"/>
              <a:t>Car Market Trends Analysis with Car Dekho Data</a:t>
            </a:r>
            <a:endParaRPr lang="en-IN" sz="32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995604" cy="36079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2800" dirty="0"/>
              <a:t>The used-car market is influenced by several factors such as the manufacturing year, present price, kilometers driven, fuel type, transmission type, seller type, and number of previous owners.</a:t>
            </a:r>
          </a:p>
          <a:p>
            <a:pPr algn="just"/>
            <a:r>
              <a:rPr lang="en-US" sz="2800" dirty="0"/>
              <a:t>Buyers and sellers often find it difficult to understand the true market value of a used vehicle and identify the factors that affect its resale price.</a:t>
            </a:r>
          </a:p>
          <a:p>
            <a:pPr algn="just"/>
            <a:r>
              <a:rPr lang="en-US" sz="2800" dirty="0"/>
              <a:t>This project aims to analyze </a:t>
            </a:r>
            <a:r>
              <a:rPr lang="en-US" sz="2800" dirty="0" err="1"/>
              <a:t>CarDekho</a:t>
            </a:r>
            <a:r>
              <a:rPr lang="en-US" sz="2800" dirty="0"/>
              <a:t> data to discover market trends, measure vehicle depreciation, identify value-for-money cars, and provide smart recommendations based on customer preferences.</a:t>
            </a:r>
          </a:p>
          <a:p>
            <a:pPr algn="just"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252" y="441319"/>
            <a:ext cx="9286034" cy="5343661"/>
          </a:xfrm>
        </p:spPr>
        <p:txBody>
          <a:bodyPr>
            <a:noAutofit/>
          </a:bodyPr>
          <a:lstStyle/>
          <a:p>
            <a:r>
              <a:rPr lang="en-GB" sz="3200" dirty="0"/>
              <a:t>Project Description</a:t>
            </a:r>
            <a:br>
              <a:rPr lang="en-GB" sz="3200" dirty="0"/>
            </a:br>
            <a:br>
              <a:rPr lang="en-GB" sz="1200" dirty="0"/>
            </a:br>
            <a:r>
              <a:rPr lang="en-US" sz="2000" b="0" dirty="0"/>
              <a:t>This project performs an end-to-end analysis of used-car market data from </a:t>
            </a:r>
            <a:r>
              <a:rPr lang="en-US" sz="2000" b="0" dirty="0" err="1"/>
              <a:t>CarDekho</a:t>
            </a:r>
            <a:r>
              <a:rPr lang="en-US" sz="2000" b="0" dirty="0"/>
              <a:t>.</a:t>
            </a:r>
            <a:br>
              <a:rPr lang="en-US" sz="2000" b="0" dirty="0"/>
            </a:br>
            <a:r>
              <a:rPr lang="en-US" sz="2000" b="0" dirty="0"/>
              <a:t>The analysis includes:</a:t>
            </a:r>
            <a:br>
              <a:rPr lang="en-US" sz="2000" b="0" dirty="0"/>
            </a:br>
            <a:r>
              <a:rPr lang="en-US" sz="2000" b="0" dirty="0"/>
              <a:t>• Data cleaning and preprocessing</a:t>
            </a:r>
            <a:br>
              <a:rPr lang="en-US" sz="2000" b="0" dirty="0"/>
            </a:br>
            <a:r>
              <a:rPr lang="en-US" sz="2000" b="0" dirty="0"/>
              <a:t>• Exploratory Data Analysis (EDA)</a:t>
            </a:r>
            <a:br>
              <a:rPr lang="en-US" sz="2000" b="0" dirty="0"/>
            </a:br>
            <a:r>
              <a:rPr lang="en-US" sz="2000" b="0" dirty="0"/>
              <a:t>• Selling price trend analysis</a:t>
            </a:r>
            <a:br>
              <a:rPr lang="en-US" sz="2000" b="0" dirty="0"/>
            </a:br>
            <a:r>
              <a:rPr lang="en-US" sz="2000" b="0" dirty="0"/>
              <a:t>• Fuel type and transmission analysis</a:t>
            </a:r>
            <a:br>
              <a:rPr lang="en-US" sz="2000" b="0" dirty="0"/>
            </a:br>
            <a:r>
              <a:rPr lang="en-US" sz="2000" b="0" dirty="0"/>
              <a:t>• Car age and kilometers-driven analysis</a:t>
            </a:r>
            <a:br>
              <a:rPr lang="en-US" sz="2000" b="0" dirty="0"/>
            </a:br>
            <a:r>
              <a:rPr lang="en-US" sz="2000" b="0" dirty="0"/>
              <a:t>• Vehicle depreciation analysis</a:t>
            </a:r>
            <a:br>
              <a:rPr lang="en-US" sz="2000" b="0" dirty="0"/>
            </a:br>
            <a:r>
              <a:rPr lang="en-US" sz="2000" b="0" dirty="0"/>
              <a:t>• Market segmentation into Budget, Mid-Range and Premium categories</a:t>
            </a:r>
            <a:br>
              <a:rPr lang="en-US" sz="2000" b="0" dirty="0"/>
            </a:br>
            <a:r>
              <a:rPr lang="en-US" sz="2000" b="0" dirty="0"/>
              <a:t>• Value-for-Money analysis</a:t>
            </a:r>
            <a:br>
              <a:rPr lang="en-US" sz="2000" b="0" dirty="0"/>
            </a:br>
            <a:r>
              <a:rPr lang="en-US" sz="2000" b="0" dirty="0"/>
              <a:t>• Smart vehicle recommendation system</a:t>
            </a:r>
            <a:br>
              <a:rPr lang="en-US" sz="2000" b="0" dirty="0"/>
            </a:br>
            <a:r>
              <a:rPr lang="en-US" sz="2000" b="0" dirty="0"/>
              <a:t>The goal is to transform raw data into meaningful business insights that can support better decisions for car buyers and sellers.</a:t>
            </a:r>
            <a:br>
              <a:rPr lang="en-US" sz="2000" b="0" dirty="0"/>
            </a:br>
            <a:br>
              <a:rPr lang="en-GB" sz="1200" dirty="0"/>
            </a:br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55000" lnSpcReduction="20000"/>
          </a:bodyPr>
          <a:lstStyle/>
          <a:p>
            <a:r>
              <a:rPr lang="en-US" sz="3600" b="1" dirty="0"/>
              <a:t>Car Buyers</a:t>
            </a:r>
          </a:p>
          <a:p>
            <a:pPr marL="0" indent="0">
              <a:buNone/>
            </a:pPr>
            <a:r>
              <a:rPr lang="en-US" sz="3600" dirty="0"/>
              <a:t>	To compare vehicles and identify value-for-money options.</a:t>
            </a:r>
          </a:p>
          <a:p>
            <a:r>
              <a:rPr lang="en-US" sz="3600" b="1" dirty="0"/>
              <a:t>Car Sellers</a:t>
            </a:r>
          </a:p>
          <a:p>
            <a:pPr marL="0" indent="0">
              <a:buNone/>
            </a:pPr>
            <a:r>
              <a:rPr lang="en-US" sz="3600" dirty="0"/>
              <a:t>	To understand factors affecting resale value and make better 	pricing decisions.</a:t>
            </a:r>
          </a:p>
          <a:p>
            <a:r>
              <a:rPr lang="en-US" sz="3600" b="1" dirty="0"/>
              <a:t>Automobile Dealerships</a:t>
            </a:r>
          </a:p>
          <a:p>
            <a:pPr marL="0" indent="0">
              <a:buNone/>
            </a:pPr>
            <a:r>
              <a:rPr lang="en-US" sz="3600" dirty="0"/>
              <a:t>	To analyze market demand and manage vehicle inventory.</a:t>
            </a:r>
          </a:p>
          <a:p>
            <a:r>
              <a:rPr lang="en-US" sz="3600" b="1" dirty="0"/>
              <a:t>Market Analysts</a:t>
            </a:r>
          </a:p>
          <a:p>
            <a:pPr marL="0" indent="0">
              <a:buNone/>
            </a:pPr>
            <a:r>
              <a:rPr lang="en-US" sz="3600" b="1" dirty="0"/>
              <a:t>      </a:t>
            </a:r>
            <a:r>
              <a:rPr lang="en-US" sz="3600" dirty="0"/>
              <a:t>To identify trends in the used-car market.</a:t>
            </a:r>
          </a:p>
          <a:p>
            <a:r>
              <a:rPr lang="en-US" sz="3600" b="1" dirty="0"/>
              <a:t>Data Analysts</a:t>
            </a:r>
          </a:p>
          <a:p>
            <a:pPr marL="0" indent="0">
              <a:buNone/>
            </a:pPr>
            <a:r>
              <a:rPr lang="en-US" sz="3600" dirty="0"/>
              <a:t>	To use the project as a decision-support analytics model.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79458" y="1395238"/>
            <a:ext cx="10264941" cy="524344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 Python</a:t>
            </a:r>
          </a:p>
          <a:p>
            <a:pPr marL="0" indent="0">
              <a:buNone/>
            </a:pPr>
            <a:r>
              <a:rPr lang="en-US" dirty="0"/>
              <a:t>	Used as the primary programming language.</a:t>
            </a:r>
          </a:p>
          <a:p>
            <a:r>
              <a:rPr lang="en-US" b="1" dirty="0"/>
              <a:t> Pandas</a:t>
            </a:r>
          </a:p>
          <a:p>
            <a:pPr marL="0" indent="0">
              <a:buNone/>
            </a:pPr>
            <a:r>
              <a:rPr lang="en-US" dirty="0"/>
              <a:t>	Used for data loading, cleaning and analysis.</a:t>
            </a:r>
          </a:p>
          <a:p>
            <a:r>
              <a:rPr lang="en-US" b="1" dirty="0"/>
              <a:t> NumPy</a:t>
            </a:r>
          </a:p>
          <a:p>
            <a:pPr marL="0" indent="0">
              <a:buNone/>
            </a:pPr>
            <a:r>
              <a:rPr lang="en-US" dirty="0"/>
              <a:t>	Used for numerical operations.</a:t>
            </a:r>
          </a:p>
          <a:p>
            <a:r>
              <a:rPr lang="en-US" b="1" dirty="0"/>
              <a:t> Matplotlib</a:t>
            </a:r>
          </a:p>
          <a:p>
            <a:pPr marL="0" indent="0">
              <a:buNone/>
            </a:pPr>
            <a:r>
              <a:rPr lang="en-US" dirty="0"/>
              <a:t>	Used for creating data visualizations and charts.</a:t>
            </a:r>
          </a:p>
          <a:p>
            <a:r>
              <a:rPr lang="en-US" b="1" dirty="0"/>
              <a:t> Jupyter Notebook</a:t>
            </a:r>
          </a:p>
          <a:p>
            <a:pPr marL="0" indent="0">
              <a:buNone/>
            </a:pPr>
            <a:r>
              <a:rPr lang="en-US" dirty="0"/>
              <a:t>	Used to develop and document the complete analysis.</a:t>
            </a:r>
          </a:p>
          <a:p>
            <a:r>
              <a:rPr lang="en-US" b="1" dirty="0"/>
              <a:t> Dataset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CarDekho</a:t>
            </a:r>
            <a:r>
              <a:rPr lang="en-US" dirty="0"/>
              <a:t> Used Car Dataset 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8" y="5737443"/>
            <a:ext cx="647236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</a:rPr>
              <a:t>https://github.com/shraddhakharade126/Edunet_CARDEKHO_PR_DataAnalytics.git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57828A-5013-2863-3471-93CE9B48A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131" y="1157410"/>
            <a:ext cx="4036362" cy="47395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4F963D-F4B2-150C-84A1-73373E3C1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474" y="1157410"/>
            <a:ext cx="5235394" cy="49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4ABEF-8F2B-7DAF-A764-885370B58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693E27-A1E2-7613-D7C1-64D2166AF0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36205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C8917F2-D209-E6D7-182C-29E0C84AF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23E843F-EF27-253A-424D-BA17CECF4D7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469B2DC-94DF-D69D-440F-FA97809E57A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2DA7F8-FE5E-084D-189E-0FF9FD5F5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37" y="1146167"/>
            <a:ext cx="4549534" cy="5006774"/>
          </a:xfrm>
          <a:prstGeom prst="rect">
            <a:avLst/>
          </a:prstGeom>
        </p:spPr>
      </p:pic>
      <p:sp>
        <p:nvSpPr>
          <p:cNvPr id="12" name="Title 3">
            <a:extLst>
              <a:ext uri="{FF2B5EF4-FFF2-40B4-BE49-F238E27FC236}">
                <a16:creationId xmlns:a16="http://schemas.microsoft.com/office/drawing/2014/main" id="{33269AC6-D449-A2BC-ECC4-A268B362AC9D}"/>
              </a:ext>
            </a:extLst>
          </p:cNvPr>
          <p:cNvSpPr txBox="1">
            <a:spLocks/>
          </p:cNvSpPr>
          <p:nvPr/>
        </p:nvSpPr>
        <p:spPr>
          <a:xfrm>
            <a:off x="428361" y="6027003"/>
            <a:ext cx="647236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</a:rPr>
              <a:t>https://github.com/shraddhakharade126/Edunet_CARDEKHO_PR_DataAnalytics.git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847DF-9258-CD17-F29C-1563FF09E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047" y="1146167"/>
            <a:ext cx="4656223" cy="49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15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A07B0-1488-540D-9868-C0860A290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C5CA2B-1404-4094-5CE5-494898AC68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F92E984-C241-7F9B-7042-44DCE786C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CADA000-5EBE-F920-8B40-AF92A06B503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B6238F2-EC7B-9D46-3D56-DE6B02ADC79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5AF8AB2A-03EA-682E-60D8-367C5FA8A197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6845588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dirty="0"/>
              <a:t> </a:t>
            </a:r>
            <a:r>
              <a:rPr lang="en-GB" sz="2000" b="0" u="sng" dirty="0">
                <a:solidFill>
                  <a:srgbClr val="0070C0"/>
                </a:solidFill>
              </a:rPr>
              <a:t>https://github.com/shraddhakharade126/Edunet_CARDEKHO_PR_DataAnalytics.git</a:t>
            </a:r>
            <a:endParaRPr lang="en-IN" sz="2000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6CC58E-4424-FC8A-7BB4-1121DD368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44" y="1119206"/>
            <a:ext cx="5292297" cy="49854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679A4CA-F409-EAFD-6121-AD7E81BB1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641" y="1140778"/>
            <a:ext cx="5535125" cy="494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9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C0B43-CB20-F9AA-1A6E-6FC4EC174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2C507-9BCD-4AE7-83BB-B3A1F9D1BC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E3DF6BE-A2ED-0BAA-4C15-35F6C03C3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6E6DB56-B08E-5F29-696E-CE821738619D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8DCDAAE-BDEB-F684-75FA-B70E7D38EF4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9667B9F-8F3A-2659-16D3-B885AD36754C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6845588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dirty="0"/>
              <a:t> </a:t>
            </a:r>
            <a:r>
              <a:rPr lang="en-GB" sz="2000" b="0" u="sng" dirty="0">
                <a:solidFill>
                  <a:srgbClr val="0070C0"/>
                </a:solidFill>
              </a:rPr>
              <a:t>https://github.com/shraddhakharade126/Edunet_CARDEKHO_PR_DataAnalytics.git</a:t>
            </a:r>
            <a:endParaRPr lang="en-IN" sz="2000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2997CE-903D-3AE2-353B-54227FEDB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33" y="1275371"/>
            <a:ext cx="3673158" cy="44961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5F995F-39F1-8522-D925-9049E45E7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414" y="1201586"/>
            <a:ext cx="6067974" cy="486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75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4ED80-B09A-1381-A6BD-B75F07DE9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6588A5-1580-E697-7B09-6E3819FF86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9029545-A06D-66E8-7BAD-73955940D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26A4609-335A-6530-4A7B-4EADF1EEB093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860C364-B9B5-6F90-7953-EDF596FD3A4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206D283-B64A-64D6-41E6-9BFE03083D95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6845588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dirty="0"/>
              <a:t> </a:t>
            </a:r>
            <a:r>
              <a:rPr lang="en-GB" sz="2000" b="0" u="sng" dirty="0">
                <a:solidFill>
                  <a:srgbClr val="0070C0"/>
                </a:solidFill>
              </a:rPr>
              <a:t>https://github.com/shraddhakharade126/Edunet_CARDEKHO_PR_DataAnalytics.git</a:t>
            </a:r>
            <a:endParaRPr lang="en-IN" sz="2000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8F79A9-EDEF-E3F1-5A5F-0262151D8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68" y="1311622"/>
            <a:ext cx="5611312" cy="45759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3D3842-AFA4-F2A2-CB0B-0F42F2A8E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066" y="537492"/>
            <a:ext cx="4535597" cy="557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29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E0183-C3A6-B7A2-D7CE-89AA1091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CDB36B-5E4F-8206-D6EA-18C0FA9CE3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FFE9478-B1A9-23F6-A3FD-FAEBB989C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66BDC0B-48B6-7A3C-92D7-8C4FEE85C9ED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A06719F-A2D3-F5E8-C69B-66EC5FA70AE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1AAE31B-C404-9E1B-631F-A7979491CC14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6845588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dirty="0"/>
              <a:t> </a:t>
            </a:r>
            <a:r>
              <a:rPr lang="en-GB" sz="2000" b="0" u="sng" dirty="0">
                <a:solidFill>
                  <a:srgbClr val="0070C0"/>
                </a:solidFill>
              </a:rPr>
              <a:t>https://github.com/shraddhakharade126/Edunet_CARDEKHO_PR_DataAnalytics.git</a:t>
            </a:r>
            <a:endParaRPr lang="en-IN" sz="2000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0FA312-501D-D32F-90FA-2FBE844352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99"/>
          <a:stretch>
            <a:fillRect/>
          </a:stretch>
        </p:blipFill>
        <p:spPr>
          <a:xfrm>
            <a:off x="641745" y="1275370"/>
            <a:ext cx="2537680" cy="42699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E04969-A530-B08D-FDA4-E5EC00EF2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060" y="1201586"/>
            <a:ext cx="5192827" cy="47639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7257D2-104E-0728-ECE5-8480870DF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8671" y="-5641"/>
            <a:ext cx="3406435" cy="647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4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73B9C-F3E1-02D4-72BA-26A6E06FF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62E883-0A3E-E078-2078-AA6A344B68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1D03C93-5434-94A2-D30F-B6F84D2F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3C31545-4F60-7734-9188-6F0E378D4F12}"/>
              </a:ext>
            </a:extLst>
          </p:cNvPr>
          <p:cNvSpPr txBox="1">
            <a:spLocks/>
          </p:cNvSpPr>
          <p:nvPr/>
        </p:nvSpPr>
        <p:spPr>
          <a:xfrm>
            <a:off x="1310027" y="3951297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384DA0B-06D9-D306-798B-7EB63E16883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442A929-1110-0E95-C8B0-C006E742AFA9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6845588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dirty="0"/>
              <a:t> </a:t>
            </a:r>
            <a:r>
              <a:rPr lang="en-GB" sz="2000" b="0" u="sng" dirty="0">
                <a:solidFill>
                  <a:srgbClr val="0070C0"/>
                </a:solidFill>
              </a:rPr>
              <a:t>https://github.com/shraddhakharade126/Edunet_CARDEKHO_PR_DataAnalytics.git</a:t>
            </a:r>
            <a:endParaRPr lang="en-IN" sz="2000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5FFFF4-045C-47C7-EE4A-BB06CAA3B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45" y="919368"/>
            <a:ext cx="909736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following visualizations were generated during the analysis: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Selling Price by Fuel Type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 Age vs Selling Price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Price vs Selling Price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Depreciation by Car Age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10 Most Common Car Models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Transmission Type Distribution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Kilometers Driven vs Selling Price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dirty="0">
                <a:latin typeface="Arial" panose="020B0604020202020204" pitchFamily="34" charset="0"/>
              </a:rPr>
              <a:t>ETC.,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visualizations help identify patterns and relationships within the used-car market.</a:t>
            </a:r>
          </a:p>
        </p:txBody>
      </p:sp>
    </p:spTree>
    <p:extLst>
      <p:ext uri="{BB962C8B-B14F-4D97-AF65-F5344CB8AC3E}">
        <p14:creationId xmlns:p14="http://schemas.microsoft.com/office/powerpoint/2010/main" val="413688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3BF3A4-3174-6C26-52AC-10EEC8D2BBCB}"/>
              </a:ext>
            </a:extLst>
          </p:cNvPr>
          <p:cNvSpPr txBox="1"/>
          <p:nvPr/>
        </p:nvSpPr>
        <p:spPr>
          <a:xfrm>
            <a:off x="1411814" y="1083386"/>
            <a:ext cx="707726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4000" b="1" dirty="0"/>
          </a:p>
          <a:p>
            <a:pPr>
              <a:buNone/>
            </a:pPr>
            <a:r>
              <a:rPr lang="en-US" dirty="0"/>
              <a:t>The Car Market Intelligence project successfully analyzed used-car data to understand important market trends and factors affecting vehicle resale prices.</a:t>
            </a:r>
          </a:p>
          <a:p>
            <a:pPr>
              <a:buNone/>
            </a:pPr>
            <a:r>
              <a:rPr lang="en-US" dirty="0"/>
              <a:t>The project demonstrated that data analytics can be used to:</a:t>
            </a:r>
          </a:p>
          <a:p>
            <a:pPr>
              <a:buNone/>
            </a:pPr>
            <a:r>
              <a:rPr lang="en-US" dirty="0"/>
              <a:t>• Understand used-car market behavior</a:t>
            </a:r>
            <a:br>
              <a:rPr lang="en-US" dirty="0"/>
            </a:br>
            <a:r>
              <a:rPr lang="en-US" dirty="0"/>
              <a:t>• Analyze vehicle depreciation</a:t>
            </a:r>
            <a:br>
              <a:rPr lang="en-US" dirty="0"/>
            </a:br>
            <a:r>
              <a:rPr lang="en-US" dirty="0"/>
              <a:t>• Identify value-for-money vehicles</a:t>
            </a:r>
            <a:br>
              <a:rPr lang="en-US" dirty="0"/>
            </a:br>
            <a:r>
              <a:rPr lang="en-US" dirty="0"/>
              <a:t>• Segment the market based on price</a:t>
            </a:r>
            <a:br>
              <a:rPr lang="en-US" dirty="0"/>
            </a:br>
            <a:r>
              <a:rPr lang="en-US" dirty="0"/>
              <a:t>• Support buyers and sellers with data-driven insights</a:t>
            </a:r>
          </a:p>
          <a:p>
            <a:pPr>
              <a:buNone/>
            </a:pPr>
            <a:r>
              <a:rPr lang="en-US" dirty="0"/>
              <a:t>This project transforms raw </a:t>
            </a:r>
            <a:r>
              <a:rPr lang="en-US" dirty="0" err="1"/>
              <a:t>CarDekho</a:t>
            </a:r>
            <a:r>
              <a:rPr lang="en-US" dirty="0"/>
              <a:t> data into meaningful and actionable market intelligence.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3235DB7-565D-BAEE-61DF-A1351DF0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341C6-5C3D-F329-C6FE-59FE1B752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D2A0FA31-D808-9CE6-962A-C01B78D8A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2F9F6A37-44AF-EF41-F0E1-FA596A8A0840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5D3BE029-01C7-5F45-2A46-6480E58E97A7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D7B10959-8423-5D1A-165B-77B0CE5B7797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E58B5BF0-F262-ABBE-27AA-B3447B873287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EDC934F-84E6-D5BA-F557-7BA82E0C0A04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16C87A-E9D5-A82C-C6A2-FD9CB70F9B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 txBox="1">
            <a:spLocks/>
          </p:cNvSpPr>
          <p:nvPr/>
        </p:nvSpPr>
        <p:spPr>
          <a:xfrm>
            <a:off x="1195555" y="4361739"/>
            <a:ext cx="11340000" cy="7001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000" b="1" dirty="0">
                <a:solidFill>
                  <a:schemeClr val="tx1"/>
                </a:solidFill>
              </a:rPr>
              <a:t>Thank you!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DD3D6A-B6F5-E261-CE19-A7C2747975C8}"/>
              </a:ext>
            </a:extLst>
          </p:cNvPr>
          <p:cNvSpPr txBox="1"/>
          <p:nvPr/>
        </p:nvSpPr>
        <p:spPr>
          <a:xfrm>
            <a:off x="1513892" y="2951672"/>
            <a:ext cx="7499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Car Market Intelligence :</a:t>
            </a:r>
          </a:p>
          <a:p>
            <a:pPr>
              <a:buNone/>
            </a:pPr>
            <a:r>
              <a:rPr lang="en-US" b="1" dirty="0"/>
              <a:t>Price Trends, Depreciation &amp; Smart Vehicle Recommendations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84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  <p:bldP spid="3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605</TotalTime>
  <Words>647</Words>
  <Application>Microsoft Office PowerPoint</Application>
  <PresentationFormat>Widescreen</PresentationFormat>
  <Paragraphs>74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: Car Market Trends Analysis with Car Dekho Data</vt:lpstr>
      <vt:lpstr>PROBLEM  STATEMENT</vt:lpstr>
      <vt:lpstr>Project Description  This project performs an end-to-end analysis of used-car market data from CarDekho. The analysis includes: • Data cleaning and preprocessing • Exploratory Data Analysis (EDA) • Selling price trend analysis • Fuel type and transmission analysis • Car age and kilometers-driven analysis • Vehicle depreciation analysis • Market segmentation into Budget, Mid-Range and Premium categories • Value-for-Money analysis • Smart vehicle recommendation system The goal is to transform raw data into meaningful business insights that can support better decisions for car buyers and sellers.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Shraddha Kharade</cp:lastModifiedBy>
  <cp:revision>81</cp:revision>
  <dcterms:created xsi:type="dcterms:W3CDTF">2021-07-11T13:13:15Z</dcterms:created>
  <dcterms:modified xsi:type="dcterms:W3CDTF">2026-08-30T07:16:47Z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