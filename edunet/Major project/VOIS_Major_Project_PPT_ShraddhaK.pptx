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7"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addha Kharade" initials="SK" lastIdx="1" clrIdx="0">
    <p:extLst>
      <p:ext uri="{19B8F6BF-5375-455C-9EA6-DF929625EA0E}">
        <p15:presenceInfo xmlns:p15="http://schemas.microsoft.com/office/powerpoint/2012/main" userId="38c85c54fab3cf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706"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hraddhakharade126/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48076" y="3969019"/>
            <a:ext cx="9628622" cy="914967"/>
          </a:xfrm>
        </p:spPr>
        <p:txBody>
          <a:bodyPr vert="horz" lIns="91440" tIns="45720" rIns="91440" bIns="45720" rtlCol="0" anchor="t">
            <a:normAutofit/>
          </a:bodyPr>
          <a:lstStyle/>
          <a:p>
            <a:r>
              <a:rPr lang="en-US" dirty="0">
                <a:solidFill>
                  <a:schemeClr val="tx1"/>
                </a:solidFill>
              </a:rPr>
              <a:t>Student Name : </a:t>
            </a:r>
            <a:r>
              <a:rPr lang="en-US" b="0" dirty="0">
                <a:solidFill>
                  <a:schemeClr val="tx1"/>
                </a:solidFill>
              </a:rPr>
              <a:t>Shraddha Dattatray Kharade</a:t>
            </a:r>
            <a:endParaRPr lang="en-IN" b="0" dirty="0">
              <a:solidFill>
                <a:schemeClr val="tx1"/>
              </a:solidFill>
            </a:endParaRPr>
          </a:p>
          <a:p>
            <a:r>
              <a:rPr lang="en-US" dirty="0">
                <a:solidFill>
                  <a:schemeClr val="tx1"/>
                </a:solidFill>
              </a:rPr>
              <a:t>College Name : </a:t>
            </a:r>
            <a:r>
              <a:rPr lang="en-US" b="0" dirty="0">
                <a:solidFill>
                  <a:schemeClr val="tx1"/>
                </a:solidFill>
              </a:rPr>
              <a:t>International Institute of Information Technology ,Pune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16937" y="2826137"/>
            <a:ext cx="10159761" cy="773550"/>
          </a:xfrm>
        </p:spPr>
        <p:txBody>
          <a:bodyPr>
            <a:normAutofit fontScale="90000"/>
          </a:bodyPr>
          <a:lstStyle/>
          <a:p>
            <a:r>
              <a:rPr lang="en-GB" sz="3200" b="1" dirty="0"/>
              <a:t>Project Title </a:t>
            </a:r>
            <a:r>
              <a:rPr lang="en-GB" sz="3200" dirty="0"/>
              <a:t>-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48076" y="4883986"/>
            <a:ext cx="5704651" cy="369332"/>
          </a:xfrm>
          <a:prstGeom prst="rect">
            <a:avLst/>
          </a:prstGeom>
          <a:noFill/>
        </p:spPr>
        <p:txBody>
          <a:bodyPr wrap="square" rtlCol="0">
            <a:spAutoFit/>
          </a:bodyPr>
          <a:lstStyle/>
          <a:p>
            <a:r>
              <a:rPr lang="en-US" b="1" dirty="0"/>
              <a:t>AICTE STU ID : STU6832ab424991f1748151106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47500" lnSpcReduction="20000"/>
          </a:bodyPr>
          <a:lstStyle/>
          <a:p>
            <a:pPr algn="just">
              <a:lnSpc>
                <a:spcPct val="150000"/>
              </a:lnSpc>
            </a:pPr>
            <a:r>
              <a:rPr lang="en-US" sz="33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a:t>
            </a:r>
            <a:r>
              <a:rPr lang="en-US" sz="3400" dirty="0">
                <a:solidFill>
                  <a:schemeClr val="tx1"/>
                </a:solidFill>
              </a:rPr>
              <a:t>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3400"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4300" dirty="0"/>
              <a:t>Project Description</a:t>
            </a:r>
            <a:br>
              <a:rPr lang="en-GB" sz="4300" dirty="0"/>
            </a:br>
            <a:br>
              <a:rPr lang="en-GB" sz="4300" dirty="0"/>
            </a:br>
            <a:endParaRPr lang="en-IN" sz="24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BA8B921F-EE9F-E2FD-0C4E-BF04BD9F66DE}"/>
              </a:ext>
            </a:extLst>
          </p:cNvPr>
          <p:cNvSpPr txBox="1"/>
          <p:nvPr/>
        </p:nvSpPr>
        <p:spPr>
          <a:xfrm>
            <a:off x="559837" y="1754155"/>
            <a:ext cx="9358604" cy="5355312"/>
          </a:xfrm>
          <a:prstGeom prst="rect">
            <a:avLst/>
          </a:prstGeom>
          <a:noFill/>
        </p:spPr>
        <p:txBody>
          <a:bodyPr wrap="square" rtlCol="0">
            <a:spAutoFit/>
          </a:bodyPr>
          <a:lstStyle/>
          <a:p>
            <a:r>
              <a:rPr lang="en-US" dirty="0"/>
              <a:t>This project analyzes agricultural data from different seasons to understand variations in production, yield, profitability, resource usage and environmental conditions.</a:t>
            </a:r>
            <a:br>
              <a:rPr lang="en-US" dirty="0"/>
            </a:br>
            <a:br>
              <a:rPr lang="en-US" dirty="0"/>
            </a:br>
            <a:r>
              <a:rPr lang="en-US" b="1" dirty="0"/>
              <a:t>Analysis Approach :</a:t>
            </a:r>
            <a:br>
              <a:rPr lang="en-US" dirty="0"/>
            </a:br>
            <a:r>
              <a:rPr lang="en-US" dirty="0"/>
              <a:t>Data Collection → Data Cleaning → EDA → Seasonal Analysis → Statistical Analysis → Visualization</a:t>
            </a:r>
            <a:br>
              <a:rPr lang="en-US" dirty="0"/>
            </a:br>
            <a:endParaRPr lang="en-US" dirty="0"/>
          </a:p>
          <a:p>
            <a:r>
              <a:rPr lang="en-US" b="1" dirty="0"/>
              <a:t>Key Areas</a:t>
            </a:r>
            <a:br>
              <a:rPr lang="en-US" dirty="0"/>
            </a:br>
            <a:r>
              <a:rPr lang="en-US" dirty="0"/>
              <a:t>Seasonal performance comparison </a:t>
            </a:r>
            <a:br>
              <a:rPr lang="en-US" dirty="0"/>
            </a:br>
            <a:r>
              <a:rPr lang="en-US" dirty="0"/>
              <a:t>Crop-wise performance </a:t>
            </a:r>
            <a:br>
              <a:rPr lang="en-US" dirty="0"/>
            </a:br>
            <a:r>
              <a:rPr lang="en-US" dirty="0"/>
              <a:t>Crop × Season interaction </a:t>
            </a:r>
            <a:br>
              <a:rPr lang="en-US" dirty="0"/>
            </a:br>
            <a:r>
              <a:rPr lang="en-US" dirty="0"/>
              <a:t>Environmental conditions </a:t>
            </a:r>
            <a:br>
              <a:rPr lang="en-US" dirty="0"/>
            </a:br>
            <a:r>
              <a:rPr lang="en-US" dirty="0"/>
              <a:t>Irrigation and water efficiency </a:t>
            </a:r>
            <a:br>
              <a:rPr lang="en-US" dirty="0"/>
            </a:br>
            <a:r>
              <a:rPr lang="en-US" dirty="0"/>
              <a:t>Resource utilization </a:t>
            </a:r>
            <a:br>
              <a:rPr lang="en-US" dirty="0"/>
            </a:br>
            <a:r>
              <a:rPr lang="en-US" dirty="0"/>
              <a:t>Revenue, cost and profit </a:t>
            </a:r>
            <a:br>
              <a:rPr lang="en-US" dirty="0"/>
            </a:br>
            <a:r>
              <a:rPr lang="en-US" dirty="0"/>
              <a:t>Disease/Pest risk </a:t>
            </a:r>
            <a:br>
              <a:rPr lang="en-US" dirty="0"/>
            </a:br>
            <a:r>
              <a:rPr lang="en-US" dirty="0"/>
              <a:t>Regional variation</a:t>
            </a:r>
            <a:br>
              <a:rPr lang="en-US" dirty="0"/>
            </a:br>
            <a:br>
              <a:rPr lang="en-GB" dirty="0"/>
            </a:br>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935963" y="1534160"/>
            <a:ext cx="8236029" cy="4447223"/>
          </a:xfrm>
        </p:spPr>
        <p:txBody>
          <a:bodyPr>
            <a:normAutofit fontScale="25000" lnSpcReduction="20000"/>
          </a:bodyPr>
          <a:lstStyle/>
          <a:p>
            <a:pPr marL="0" indent="0">
              <a:buNone/>
            </a:pPr>
            <a:r>
              <a:rPr lang="en-US" sz="3600" b="1" dirty="0"/>
              <a:t> </a:t>
            </a:r>
            <a:r>
              <a:rPr lang="en-US" sz="5500" b="1" dirty="0">
                <a:solidFill>
                  <a:schemeClr val="tx1"/>
                </a:solidFill>
              </a:rPr>
              <a:t>Farmers &amp; Farm Owners</a:t>
            </a:r>
          </a:p>
          <a:p>
            <a:pPr marL="400050" lvl="2"/>
            <a:r>
              <a:rPr lang="en-US" sz="5300" dirty="0">
                <a:solidFill>
                  <a:schemeClr val="tx1"/>
                </a:solidFill>
              </a:rPr>
              <a:t>Track crop performance across seasons</a:t>
            </a:r>
          </a:p>
          <a:p>
            <a:pPr marL="400050" lvl="2"/>
            <a:r>
              <a:rPr lang="en-US" sz="5300" dirty="0">
                <a:solidFill>
                  <a:schemeClr val="tx1"/>
                </a:solidFill>
              </a:rPr>
              <a:t>Improve resource and irrigation decisions</a:t>
            </a:r>
          </a:p>
          <a:p>
            <a:pPr marL="400050" lvl="2"/>
            <a:r>
              <a:rPr lang="en-US" sz="5300" dirty="0">
                <a:solidFill>
                  <a:schemeClr val="tx1"/>
                </a:solidFill>
              </a:rPr>
              <a:t>Identify profitable crops and farming practices</a:t>
            </a:r>
          </a:p>
          <a:p>
            <a:pPr marL="0" indent="0">
              <a:buNone/>
            </a:pPr>
            <a:r>
              <a:rPr lang="en-US" sz="5500" dirty="0">
                <a:solidFill>
                  <a:schemeClr val="tx1"/>
                </a:solidFill>
              </a:rPr>
              <a:t> </a:t>
            </a:r>
            <a:r>
              <a:rPr lang="en-US" sz="5500" b="1" dirty="0">
                <a:solidFill>
                  <a:schemeClr val="tx1"/>
                </a:solidFill>
              </a:rPr>
              <a:t>Agricultural Departments &amp; Government Agencies</a:t>
            </a:r>
          </a:p>
          <a:p>
            <a:pPr marL="400050" lvl="2"/>
            <a:r>
              <a:rPr lang="en-US" sz="5300" dirty="0">
                <a:solidFill>
                  <a:schemeClr val="tx1"/>
                </a:solidFill>
              </a:rPr>
              <a:t>Understand regional and seasonal agricultural trends</a:t>
            </a:r>
          </a:p>
          <a:p>
            <a:pPr marL="400050" lvl="2"/>
            <a:r>
              <a:rPr lang="en-US" sz="5300" dirty="0">
                <a:solidFill>
                  <a:schemeClr val="tx1"/>
                </a:solidFill>
              </a:rPr>
              <a:t>Support evidence-based agricultural planning</a:t>
            </a:r>
          </a:p>
          <a:p>
            <a:pPr marL="400050" lvl="2"/>
            <a:r>
              <a:rPr lang="en-US" sz="5300" dirty="0">
                <a:solidFill>
                  <a:schemeClr val="tx1"/>
                </a:solidFill>
              </a:rPr>
              <a:t>Identify areas </a:t>
            </a:r>
            <a:r>
              <a:rPr lang="en-US" sz="5400" dirty="0">
                <a:solidFill>
                  <a:schemeClr val="tx1"/>
                </a:solidFill>
              </a:rPr>
              <a:t>requiring intervention</a:t>
            </a:r>
          </a:p>
          <a:p>
            <a:pPr marL="0" indent="0">
              <a:buFont typeface="Wingdings" panose="05000000000000000000" pitchFamily="2" charset="2"/>
              <a:buNone/>
            </a:pPr>
            <a:r>
              <a:rPr lang="en-US" sz="5600" b="1" dirty="0">
                <a:solidFill>
                  <a:schemeClr val="tx1"/>
                </a:solidFill>
              </a:rPr>
              <a:t>Agricultural Analysts &amp; Researchers</a:t>
            </a:r>
          </a:p>
          <a:p>
            <a:pPr marL="400050" lvl="2"/>
            <a:r>
              <a:rPr lang="en-US" sz="5400" dirty="0">
                <a:solidFill>
                  <a:schemeClr val="tx1"/>
                </a:solidFill>
              </a:rPr>
              <a:t>Study relationships between environment, resources, yield and profit</a:t>
            </a:r>
          </a:p>
          <a:p>
            <a:pPr marL="400050" lvl="2"/>
            <a:r>
              <a:rPr lang="en-US" sz="5400" dirty="0">
                <a:solidFill>
                  <a:schemeClr val="tx1"/>
                </a:solidFill>
              </a:rPr>
              <a:t>Compare crops, seasons and regions</a:t>
            </a:r>
          </a:p>
          <a:p>
            <a:pPr marL="400050" lvl="2"/>
            <a:r>
              <a:rPr lang="en-US" sz="5400" dirty="0">
                <a:solidFill>
                  <a:schemeClr val="tx1"/>
                </a:solidFill>
              </a:rPr>
              <a:t>Identify trends, anomalies and performance gaps</a:t>
            </a:r>
          </a:p>
          <a:p>
            <a:pPr marL="0" indent="0">
              <a:buFont typeface="Wingdings" panose="05000000000000000000" pitchFamily="2" charset="2"/>
              <a:buNone/>
            </a:pPr>
            <a:r>
              <a:rPr lang="en-US" sz="5600" b="1" dirty="0">
                <a:solidFill>
                  <a:schemeClr val="tx1"/>
                </a:solidFill>
              </a:rPr>
              <a:t>Agribusiness &amp; Agricultural Planners</a:t>
            </a:r>
          </a:p>
          <a:p>
            <a:pPr marL="400050" lvl="2"/>
            <a:r>
              <a:rPr lang="en-US" sz="5400" dirty="0">
                <a:solidFill>
                  <a:schemeClr val="tx1"/>
                </a:solidFill>
              </a:rPr>
              <a:t>Evaluate crop profitability and market performance</a:t>
            </a:r>
          </a:p>
          <a:p>
            <a:pPr marL="400050" lvl="2"/>
            <a:r>
              <a:rPr lang="en-US" sz="5400" dirty="0">
                <a:solidFill>
                  <a:schemeClr val="tx1"/>
                </a:solidFill>
              </a:rPr>
              <a:t>Support production and resource planning</a:t>
            </a:r>
          </a:p>
          <a:p>
            <a:pPr marL="400050" lvl="2"/>
            <a:r>
              <a:rPr lang="en-US" sz="5400" dirty="0">
                <a:solidFill>
                  <a:schemeClr val="tx1"/>
                </a:solidFill>
              </a:rPr>
              <a:t>Improve decision-making using data-driven insights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54959" y="731519"/>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fade">
                                      <p:cBhvr>
                                        <p:cTn id="29" dur="1000"/>
                                        <p:tgtEl>
                                          <p:spTgt spid="2">
                                            <p:txEl>
                                              <p:pRg st="3" end="3"/>
                                            </p:txEl>
                                          </p:spTgt>
                                        </p:tgtEl>
                                      </p:cBhvr>
                                    </p:animEffect>
                                    <p:anim calcmode="lin" valueType="num">
                                      <p:cBhvr>
                                        <p:cTn id="3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1000"/>
                                        <p:tgtEl>
                                          <p:spTgt spid="2">
                                            <p:txEl>
                                              <p:pRg st="4" end="4"/>
                                            </p:txEl>
                                          </p:spTgt>
                                        </p:tgtEl>
                                      </p:cBhvr>
                                    </p:animEffect>
                                    <p:anim calcmode="lin" valueType="num">
                                      <p:cBhvr>
                                        <p:cTn id="3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fade">
                                      <p:cBhvr>
                                        <p:cTn id="41" dur="1000"/>
                                        <p:tgtEl>
                                          <p:spTgt spid="2">
                                            <p:txEl>
                                              <p:pRg st="5" end="5"/>
                                            </p:txEl>
                                          </p:spTgt>
                                        </p:tgtEl>
                                      </p:cBhvr>
                                    </p:animEffect>
                                    <p:anim calcmode="lin" valueType="num">
                                      <p:cBhvr>
                                        <p:cTn id="4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Effect transition="in" filter="fade">
                                      <p:cBhvr>
                                        <p:cTn id="46" dur="1000"/>
                                        <p:tgtEl>
                                          <p:spTgt spid="2">
                                            <p:txEl>
                                              <p:pRg st="6" end="6"/>
                                            </p:txEl>
                                          </p:spTgt>
                                        </p:tgtEl>
                                      </p:cBhvr>
                                    </p:animEffect>
                                    <p:anim calcmode="lin" valueType="num">
                                      <p:cBhvr>
                                        <p:cTn id="4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
                                            <p:txEl>
                                              <p:pRg st="7" end="7"/>
                                            </p:txEl>
                                          </p:spTgt>
                                        </p:tgtEl>
                                        <p:attrNameLst>
                                          <p:attrName>style.visibility</p:attrName>
                                        </p:attrNameLst>
                                      </p:cBhvr>
                                      <p:to>
                                        <p:strVal val="visible"/>
                                      </p:to>
                                    </p:set>
                                    <p:animEffect transition="in" filter="fade">
                                      <p:cBhvr>
                                        <p:cTn id="51" dur="1000"/>
                                        <p:tgtEl>
                                          <p:spTgt spid="2">
                                            <p:txEl>
                                              <p:pRg st="7" end="7"/>
                                            </p:txEl>
                                          </p:spTgt>
                                        </p:tgtEl>
                                      </p:cBhvr>
                                    </p:animEffect>
                                    <p:anim calcmode="lin" valueType="num">
                                      <p:cBhvr>
                                        <p:cTn id="52"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
                                            <p:txEl>
                                              <p:pRg st="8" end="8"/>
                                            </p:txEl>
                                          </p:spTgt>
                                        </p:tgtEl>
                                        <p:attrNameLst>
                                          <p:attrName>style.visibility</p:attrName>
                                        </p:attrNameLst>
                                      </p:cBhvr>
                                      <p:to>
                                        <p:strVal val="visible"/>
                                      </p:to>
                                    </p:set>
                                    <p:animEffect transition="in" filter="fade">
                                      <p:cBhvr>
                                        <p:cTn id="58" dur="1000"/>
                                        <p:tgtEl>
                                          <p:spTgt spid="2">
                                            <p:txEl>
                                              <p:pRg st="8" end="8"/>
                                            </p:txEl>
                                          </p:spTgt>
                                        </p:tgtEl>
                                      </p:cBhvr>
                                    </p:animEffect>
                                    <p:anim calcmode="lin" valueType="num">
                                      <p:cBhvr>
                                        <p:cTn id="5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8" end="8"/>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animEffect transition="in" filter="fade">
                                      <p:cBhvr>
                                        <p:cTn id="63" dur="1000"/>
                                        <p:tgtEl>
                                          <p:spTgt spid="2">
                                            <p:txEl>
                                              <p:pRg st="9" end="9"/>
                                            </p:txEl>
                                          </p:spTgt>
                                        </p:tgtEl>
                                      </p:cBhvr>
                                    </p:animEffect>
                                    <p:anim calcmode="lin" valueType="num">
                                      <p:cBhvr>
                                        <p:cTn id="64"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9" end="9"/>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
                                            <p:txEl>
                                              <p:pRg st="10" end="10"/>
                                            </p:txEl>
                                          </p:spTgt>
                                        </p:tgtEl>
                                        <p:attrNameLst>
                                          <p:attrName>style.visibility</p:attrName>
                                        </p:attrNameLst>
                                      </p:cBhvr>
                                      <p:to>
                                        <p:strVal val="visible"/>
                                      </p:to>
                                    </p:set>
                                    <p:animEffect transition="in" filter="fade">
                                      <p:cBhvr>
                                        <p:cTn id="68" dur="1000"/>
                                        <p:tgtEl>
                                          <p:spTgt spid="2">
                                            <p:txEl>
                                              <p:pRg st="10" end="10"/>
                                            </p:txEl>
                                          </p:spTgt>
                                        </p:tgtEl>
                                      </p:cBhvr>
                                    </p:animEffect>
                                    <p:anim calcmode="lin" valueType="num">
                                      <p:cBhvr>
                                        <p:cTn id="69"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0"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
                                            <p:txEl>
                                              <p:pRg st="11" end="11"/>
                                            </p:txEl>
                                          </p:spTgt>
                                        </p:tgtEl>
                                        <p:attrNameLst>
                                          <p:attrName>style.visibility</p:attrName>
                                        </p:attrNameLst>
                                      </p:cBhvr>
                                      <p:to>
                                        <p:strVal val="visible"/>
                                      </p:to>
                                    </p:set>
                                    <p:animEffect transition="in" filter="fade">
                                      <p:cBhvr>
                                        <p:cTn id="73" dur="1000"/>
                                        <p:tgtEl>
                                          <p:spTgt spid="2">
                                            <p:txEl>
                                              <p:pRg st="11" end="11"/>
                                            </p:txEl>
                                          </p:spTgt>
                                        </p:tgtEl>
                                      </p:cBhvr>
                                    </p:animEffect>
                                    <p:anim calcmode="lin" valueType="num">
                                      <p:cBhvr>
                                        <p:cTn id="74"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5"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2">
                                            <p:txEl>
                                              <p:pRg st="12" end="12"/>
                                            </p:txEl>
                                          </p:spTgt>
                                        </p:tgtEl>
                                        <p:attrNameLst>
                                          <p:attrName>style.visibility</p:attrName>
                                        </p:attrNameLst>
                                      </p:cBhvr>
                                      <p:to>
                                        <p:strVal val="visible"/>
                                      </p:to>
                                    </p:set>
                                    <p:animEffect transition="in" filter="fade">
                                      <p:cBhvr>
                                        <p:cTn id="80" dur="1000"/>
                                        <p:tgtEl>
                                          <p:spTgt spid="2">
                                            <p:txEl>
                                              <p:pRg st="12" end="12"/>
                                            </p:txEl>
                                          </p:spTgt>
                                        </p:tgtEl>
                                      </p:cBhvr>
                                    </p:animEffect>
                                    <p:anim calcmode="lin" valueType="num">
                                      <p:cBhvr>
                                        <p:cTn id="81"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82"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
                                            <p:txEl>
                                              <p:pRg st="13" end="13"/>
                                            </p:txEl>
                                          </p:spTgt>
                                        </p:tgtEl>
                                        <p:attrNameLst>
                                          <p:attrName>style.visibility</p:attrName>
                                        </p:attrNameLst>
                                      </p:cBhvr>
                                      <p:to>
                                        <p:strVal val="visible"/>
                                      </p:to>
                                    </p:set>
                                    <p:animEffect transition="in" filter="fade">
                                      <p:cBhvr>
                                        <p:cTn id="85" dur="1000"/>
                                        <p:tgtEl>
                                          <p:spTgt spid="2">
                                            <p:txEl>
                                              <p:pRg st="13" end="13"/>
                                            </p:txEl>
                                          </p:spTgt>
                                        </p:tgtEl>
                                      </p:cBhvr>
                                    </p:animEffect>
                                    <p:anim calcmode="lin" valueType="num">
                                      <p:cBhvr>
                                        <p:cTn id="8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87" dur="1000" fill="hold"/>
                                        <p:tgtEl>
                                          <p:spTgt spid="2">
                                            <p:txEl>
                                              <p:pRg st="13" end="13"/>
                                            </p:txEl>
                                          </p:spTgt>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
                                            <p:txEl>
                                              <p:pRg st="14" end="14"/>
                                            </p:txEl>
                                          </p:spTgt>
                                        </p:tgtEl>
                                        <p:attrNameLst>
                                          <p:attrName>style.visibility</p:attrName>
                                        </p:attrNameLst>
                                      </p:cBhvr>
                                      <p:to>
                                        <p:strVal val="visible"/>
                                      </p:to>
                                    </p:set>
                                    <p:animEffect transition="in" filter="fade">
                                      <p:cBhvr>
                                        <p:cTn id="90" dur="1000"/>
                                        <p:tgtEl>
                                          <p:spTgt spid="2">
                                            <p:txEl>
                                              <p:pRg st="14" end="14"/>
                                            </p:txEl>
                                          </p:spTgt>
                                        </p:tgtEl>
                                      </p:cBhvr>
                                    </p:animEffect>
                                    <p:anim calcmode="lin" valueType="num">
                                      <p:cBhvr>
                                        <p:cTn id="91"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92" dur="1000" fill="hold"/>
                                        <p:tgtEl>
                                          <p:spTgt spid="2">
                                            <p:txEl>
                                              <p:pRg st="14" end="14"/>
                                            </p:txEl>
                                          </p:spTgt>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
                                            <p:txEl>
                                              <p:pRg st="15" end="15"/>
                                            </p:txEl>
                                          </p:spTgt>
                                        </p:tgtEl>
                                        <p:attrNameLst>
                                          <p:attrName>style.visibility</p:attrName>
                                        </p:attrNameLst>
                                      </p:cBhvr>
                                      <p:to>
                                        <p:strVal val="visible"/>
                                      </p:to>
                                    </p:set>
                                    <p:animEffect transition="in" filter="fade">
                                      <p:cBhvr>
                                        <p:cTn id="95" dur="1000"/>
                                        <p:tgtEl>
                                          <p:spTgt spid="2">
                                            <p:txEl>
                                              <p:pRg st="15" end="15"/>
                                            </p:txEl>
                                          </p:spTgt>
                                        </p:tgtEl>
                                      </p:cBhvr>
                                    </p:animEffect>
                                    <p:anim calcmode="lin" valueType="num">
                                      <p:cBhvr>
                                        <p:cTn id="96"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97"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graphicFrame>
        <p:nvGraphicFramePr>
          <p:cNvPr id="19" name="Table 18">
            <a:extLst>
              <a:ext uri="{FF2B5EF4-FFF2-40B4-BE49-F238E27FC236}">
                <a16:creationId xmlns:a16="http://schemas.microsoft.com/office/drawing/2014/main" id="{3DB42D94-C4A1-82A9-0B34-BDEC4C80B88F}"/>
              </a:ext>
            </a:extLst>
          </p:cNvPr>
          <p:cNvGraphicFramePr>
            <a:graphicFrameLocks noGrp="1"/>
          </p:cNvGraphicFramePr>
          <p:nvPr>
            <p:extLst>
              <p:ext uri="{D42A27DB-BD31-4B8C-83A1-F6EECF244321}">
                <p14:modId xmlns:p14="http://schemas.microsoft.com/office/powerpoint/2010/main" val="1269589145"/>
              </p:ext>
            </p:extLst>
          </p:nvPr>
        </p:nvGraphicFramePr>
        <p:xfrm>
          <a:off x="1668534" y="1462107"/>
          <a:ext cx="8596312" cy="4083075"/>
        </p:xfrm>
        <a:graphic>
          <a:graphicData uri="http://schemas.openxmlformats.org/drawingml/2006/table">
            <a:tbl>
              <a:tblPr>
                <a:tableStyleId>{3C2FFA5D-87B4-456A-9821-1D502468CF0F}</a:tableStyleId>
              </a:tblPr>
              <a:tblGrid>
                <a:gridCol w="4298156">
                  <a:extLst>
                    <a:ext uri="{9D8B030D-6E8A-4147-A177-3AD203B41FA5}">
                      <a16:colId xmlns:a16="http://schemas.microsoft.com/office/drawing/2014/main" val="1762182136"/>
                    </a:ext>
                  </a:extLst>
                </a:gridCol>
                <a:gridCol w="4298156">
                  <a:extLst>
                    <a:ext uri="{9D8B030D-6E8A-4147-A177-3AD203B41FA5}">
                      <a16:colId xmlns:a16="http://schemas.microsoft.com/office/drawing/2014/main" val="2780002690"/>
                    </a:ext>
                  </a:extLst>
                </a:gridCol>
              </a:tblGrid>
              <a:tr h="608355">
                <a:tc>
                  <a:txBody>
                    <a:bodyPr/>
                    <a:lstStyle/>
                    <a:p>
                      <a:pPr>
                        <a:buNone/>
                      </a:pPr>
                      <a:r>
                        <a:rPr lang="en-US" b="1" dirty="0"/>
                        <a:t>Technology / Tool</a:t>
                      </a:r>
                    </a:p>
                  </a:txBody>
                  <a:tcPr anchor="ctr"/>
                </a:tc>
                <a:tc>
                  <a:txBody>
                    <a:bodyPr/>
                    <a:lstStyle/>
                    <a:p>
                      <a:pPr>
                        <a:buNone/>
                      </a:pPr>
                      <a:r>
                        <a:rPr lang="en-US" b="1" dirty="0"/>
                        <a:t>Purpose in the Project</a:t>
                      </a:r>
                    </a:p>
                  </a:txBody>
                  <a:tcPr anchor="ctr"/>
                </a:tc>
                <a:extLst>
                  <a:ext uri="{0D108BD9-81ED-4DB2-BD59-A6C34878D82A}">
                    <a16:rowId xmlns:a16="http://schemas.microsoft.com/office/drawing/2014/main" val="2837030430"/>
                  </a:ext>
                </a:extLst>
              </a:tr>
              <a:tr h="0">
                <a:tc>
                  <a:txBody>
                    <a:bodyPr/>
                    <a:lstStyle/>
                    <a:p>
                      <a:pPr>
                        <a:buNone/>
                      </a:pPr>
                      <a:r>
                        <a:rPr lang="en-US" b="1" dirty="0"/>
                        <a:t>Python</a:t>
                      </a:r>
                      <a:endParaRPr lang="en-US" dirty="0"/>
                    </a:p>
                  </a:txBody>
                  <a:tcPr anchor="ctr"/>
                </a:tc>
                <a:tc>
                  <a:txBody>
                    <a:bodyPr/>
                    <a:lstStyle/>
                    <a:p>
                      <a:pPr>
                        <a:buNone/>
                      </a:pPr>
                      <a:r>
                        <a:rPr lang="en-US" dirty="0"/>
                        <a:t>Data analysis, cleaning, statistical calculations and automation</a:t>
                      </a:r>
                    </a:p>
                  </a:txBody>
                  <a:tcPr anchor="ctr"/>
                </a:tc>
                <a:extLst>
                  <a:ext uri="{0D108BD9-81ED-4DB2-BD59-A6C34878D82A}">
                    <a16:rowId xmlns:a16="http://schemas.microsoft.com/office/drawing/2014/main" val="2000356730"/>
                  </a:ext>
                </a:extLst>
              </a:tr>
              <a:tr h="0">
                <a:tc>
                  <a:txBody>
                    <a:bodyPr/>
                    <a:lstStyle/>
                    <a:p>
                      <a:pPr>
                        <a:buNone/>
                      </a:pPr>
                      <a:r>
                        <a:rPr lang="en-US" b="1" dirty="0"/>
                        <a:t>Pandas &amp; NumPy</a:t>
                      </a:r>
                      <a:endParaRPr lang="en-US" dirty="0"/>
                    </a:p>
                  </a:txBody>
                  <a:tcPr anchor="ctr"/>
                </a:tc>
                <a:tc>
                  <a:txBody>
                    <a:bodyPr/>
                    <a:lstStyle/>
                    <a:p>
                      <a:pPr>
                        <a:buNone/>
                      </a:pPr>
                      <a:r>
                        <a:rPr lang="en-US" dirty="0"/>
                        <a:t>Data manipulation, preprocessing and numerical analysis</a:t>
                      </a:r>
                    </a:p>
                  </a:txBody>
                  <a:tcPr anchor="ctr"/>
                </a:tc>
                <a:extLst>
                  <a:ext uri="{0D108BD9-81ED-4DB2-BD59-A6C34878D82A}">
                    <a16:rowId xmlns:a16="http://schemas.microsoft.com/office/drawing/2014/main" val="3174143450"/>
                  </a:ext>
                </a:extLst>
              </a:tr>
              <a:tr h="0">
                <a:tc>
                  <a:txBody>
                    <a:bodyPr/>
                    <a:lstStyle/>
                    <a:p>
                      <a:pPr>
                        <a:buNone/>
                      </a:pPr>
                      <a:r>
                        <a:rPr lang="en-US" b="1" dirty="0"/>
                        <a:t>Matplotlib &amp; Seaborn</a:t>
                      </a:r>
                      <a:endParaRPr lang="en-US" dirty="0"/>
                    </a:p>
                  </a:txBody>
                  <a:tcPr anchor="ctr"/>
                </a:tc>
                <a:tc>
                  <a:txBody>
                    <a:bodyPr/>
                    <a:lstStyle/>
                    <a:p>
                      <a:pPr>
                        <a:buNone/>
                      </a:pPr>
                      <a:r>
                        <a:rPr lang="en-US"/>
                        <a:t>Data visualization, charts, plots and heatmaps</a:t>
                      </a:r>
                    </a:p>
                  </a:txBody>
                  <a:tcPr anchor="ctr"/>
                </a:tc>
                <a:extLst>
                  <a:ext uri="{0D108BD9-81ED-4DB2-BD59-A6C34878D82A}">
                    <a16:rowId xmlns:a16="http://schemas.microsoft.com/office/drawing/2014/main" val="2997498216"/>
                  </a:ext>
                </a:extLst>
              </a:tr>
              <a:tr h="0">
                <a:tc>
                  <a:txBody>
                    <a:bodyPr/>
                    <a:lstStyle/>
                    <a:p>
                      <a:pPr>
                        <a:buNone/>
                      </a:pPr>
                      <a:r>
                        <a:rPr lang="en-US" b="1" dirty="0"/>
                        <a:t>Google Collab</a:t>
                      </a:r>
                      <a:endParaRPr lang="en-US" dirty="0"/>
                    </a:p>
                  </a:txBody>
                  <a:tcPr anchor="ctr"/>
                </a:tc>
                <a:tc>
                  <a:txBody>
                    <a:bodyPr/>
                    <a:lstStyle/>
                    <a:p>
                      <a:pPr>
                        <a:buNone/>
                      </a:pPr>
                      <a:r>
                        <a:rPr lang="en-US"/>
                        <a:t>Cloud-based environment for writing and executing Python code</a:t>
                      </a:r>
                    </a:p>
                  </a:txBody>
                  <a:tcPr anchor="ctr"/>
                </a:tc>
                <a:extLst>
                  <a:ext uri="{0D108BD9-81ED-4DB2-BD59-A6C34878D82A}">
                    <a16:rowId xmlns:a16="http://schemas.microsoft.com/office/drawing/2014/main" val="1197017832"/>
                  </a:ext>
                </a:extLst>
              </a:tr>
              <a:tr h="0">
                <a:tc>
                  <a:txBody>
                    <a:bodyPr/>
                    <a:lstStyle/>
                    <a:p>
                      <a:pPr>
                        <a:buNone/>
                      </a:pPr>
                      <a:r>
                        <a:rPr lang="en-US" b="1" dirty="0"/>
                        <a:t>Statistical Analysis</a:t>
                      </a:r>
                      <a:endParaRPr lang="en-US" dirty="0"/>
                    </a:p>
                  </a:txBody>
                  <a:tcPr anchor="ctr"/>
                </a:tc>
                <a:tc>
                  <a:txBody>
                    <a:bodyPr/>
                    <a:lstStyle/>
                    <a:p>
                      <a:pPr>
                        <a:buNone/>
                      </a:pPr>
                      <a:r>
                        <a:rPr lang="en-US" dirty="0"/>
                        <a:t>Correlation analysis and ANOVA to identify relationships and seasonal differences</a:t>
                      </a:r>
                    </a:p>
                  </a:txBody>
                  <a:tcPr anchor="ctr"/>
                </a:tc>
                <a:extLst>
                  <a:ext uri="{0D108BD9-81ED-4DB2-BD59-A6C34878D82A}">
                    <a16:rowId xmlns:a16="http://schemas.microsoft.com/office/drawing/2014/main" val="3049995398"/>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A4B5455-4667-D9B1-91A1-6CA0ED6F375E}"/>
              </a:ext>
            </a:extLst>
          </p:cNvPr>
          <p:cNvPicPr>
            <a:picLocks noChangeAspect="1"/>
          </p:cNvPicPr>
          <p:nvPr/>
        </p:nvPicPr>
        <p:blipFill>
          <a:blip r:embed="rId3"/>
          <a:stretch>
            <a:fillRect/>
          </a:stretch>
        </p:blipFill>
        <p:spPr>
          <a:xfrm>
            <a:off x="578498" y="1462111"/>
            <a:ext cx="10176588" cy="4346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ADB78E4B-A9A1-992E-A5D5-AD314463D338}"/>
              </a:ext>
            </a:extLst>
          </p:cNvPr>
          <p:cNvSpPr>
            <a:spLocks noGrp="1"/>
          </p:cNvSpPr>
          <p:nvPr>
            <p:ph type="body" sz="quarter" idx="12"/>
          </p:nvPr>
        </p:nvSpPr>
        <p:spPr/>
        <p:txBody>
          <a:bodyPr/>
          <a:lstStyle/>
          <a:p>
            <a:endParaRPr lang="en-US"/>
          </a:p>
        </p:txBody>
      </p:sp>
      <p:pic>
        <p:nvPicPr>
          <p:cNvPr id="9" name="Picture 8">
            <a:extLst>
              <a:ext uri="{FF2B5EF4-FFF2-40B4-BE49-F238E27FC236}">
                <a16:creationId xmlns:a16="http://schemas.microsoft.com/office/drawing/2014/main" id="{6EE15B8C-3AA5-1783-77E6-582C4BC967EB}"/>
              </a:ext>
            </a:extLst>
          </p:cNvPr>
          <p:cNvPicPr>
            <a:picLocks noChangeAspect="1"/>
          </p:cNvPicPr>
          <p:nvPr/>
        </p:nvPicPr>
        <p:blipFill>
          <a:blip r:embed="rId3"/>
          <a:stretch>
            <a:fillRect/>
          </a:stretch>
        </p:blipFill>
        <p:spPr>
          <a:xfrm>
            <a:off x="618234" y="1192514"/>
            <a:ext cx="4359469" cy="526513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5D8B165D-E940-C96A-64B3-FBFDF21C4C7C}"/>
              </a:ext>
            </a:extLst>
          </p:cNvPr>
          <p:cNvPicPr>
            <a:picLocks noChangeAspect="1"/>
          </p:cNvPicPr>
          <p:nvPr/>
        </p:nvPicPr>
        <p:blipFill>
          <a:blip r:embed="rId4"/>
          <a:stretch>
            <a:fillRect/>
          </a:stretch>
        </p:blipFill>
        <p:spPr>
          <a:xfrm>
            <a:off x="5377947" y="1066478"/>
            <a:ext cx="5012318" cy="54054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68ECE294-07A1-713F-6A16-EF1D67B42122}"/>
              </a:ext>
            </a:extLst>
          </p:cNvPr>
          <p:cNvSpPr>
            <a:spLocks noGrp="1"/>
          </p:cNvSpPr>
          <p:nvPr>
            <p:ph type="body" sz="quarter" idx="12"/>
          </p:nvPr>
        </p:nvSpPr>
        <p:spPr/>
        <p:txBody>
          <a:bodyPr/>
          <a:lstStyle/>
          <a:p>
            <a:endParaRPr lang="en-US"/>
          </a:p>
        </p:txBody>
      </p:sp>
      <p:pic>
        <p:nvPicPr>
          <p:cNvPr id="9" name="Picture 8">
            <a:extLst>
              <a:ext uri="{FF2B5EF4-FFF2-40B4-BE49-F238E27FC236}">
                <a16:creationId xmlns:a16="http://schemas.microsoft.com/office/drawing/2014/main" id="{C83ACEC4-BA29-2308-0365-B961410DF180}"/>
              </a:ext>
            </a:extLst>
          </p:cNvPr>
          <p:cNvPicPr>
            <a:picLocks noChangeAspect="1"/>
          </p:cNvPicPr>
          <p:nvPr/>
        </p:nvPicPr>
        <p:blipFill>
          <a:blip r:embed="rId3"/>
          <a:stretch>
            <a:fillRect/>
          </a:stretch>
        </p:blipFill>
        <p:spPr>
          <a:xfrm>
            <a:off x="547669" y="1201586"/>
            <a:ext cx="4701947" cy="542591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8E9699E-CA16-C728-057B-E565ABF01263}"/>
              </a:ext>
            </a:extLst>
          </p:cNvPr>
          <p:cNvPicPr>
            <a:picLocks noChangeAspect="1"/>
          </p:cNvPicPr>
          <p:nvPr/>
        </p:nvPicPr>
        <p:blipFill>
          <a:blip r:embed="rId4"/>
          <a:stretch>
            <a:fillRect/>
          </a:stretch>
        </p:blipFill>
        <p:spPr>
          <a:xfrm>
            <a:off x="5485305" y="1201586"/>
            <a:ext cx="6001975" cy="54259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534E7-3AC7-99B1-A3F2-B74D599F8E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A564D2-168F-C002-5214-A2C9B63BCC7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10EC044-6669-4908-3C77-71E56ACFEE1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73ECA3-D591-D5C9-2167-54A6C77FEB9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AC86881-530C-8DC0-DEC4-E2179AA37FF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B86D6552-49A6-EF14-586B-09EF3885F61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D38A62E4-67AD-10E4-63C9-D998A2B83BDB}"/>
              </a:ext>
            </a:extLst>
          </p:cNvPr>
          <p:cNvPicPr>
            <a:picLocks noChangeAspect="1"/>
          </p:cNvPicPr>
          <p:nvPr/>
        </p:nvPicPr>
        <p:blipFill>
          <a:blip r:embed="rId3"/>
          <a:stretch>
            <a:fillRect/>
          </a:stretch>
        </p:blipFill>
        <p:spPr>
          <a:xfrm>
            <a:off x="554247" y="1392489"/>
            <a:ext cx="4894830" cy="5175951"/>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F1DDB50D-786B-4DDA-B70B-677FDF471088}"/>
              </a:ext>
            </a:extLst>
          </p:cNvPr>
          <p:cNvPicPr>
            <a:picLocks noChangeAspect="1"/>
          </p:cNvPicPr>
          <p:nvPr/>
        </p:nvPicPr>
        <p:blipFill>
          <a:blip r:embed="rId4"/>
          <a:stretch>
            <a:fillRect/>
          </a:stretch>
        </p:blipFill>
        <p:spPr>
          <a:xfrm>
            <a:off x="5840624" y="1392489"/>
            <a:ext cx="5402764" cy="52380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176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6C36A49D-63AB-D746-BCA5-FD28FC7E0D9A}"/>
              </a:ext>
            </a:extLst>
          </p:cNvPr>
          <p:cNvSpPr>
            <a:spLocks noGrp="1"/>
          </p:cNvSpPr>
          <p:nvPr>
            <p:ph type="body" sz="quarter" idx="12"/>
          </p:nvPr>
        </p:nvSpPr>
        <p:spPr/>
        <p:txBody>
          <a:bodyPr/>
          <a:lstStyle/>
          <a:p>
            <a:endParaRPr lang="en-US"/>
          </a:p>
        </p:txBody>
      </p:sp>
      <p:pic>
        <p:nvPicPr>
          <p:cNvPr id="9" name="Picture 8">
            <a:extLst>
              <a:ext uri="{FF2B5EF4-FFF2-40B4-BE49-F238E27FC236}">
                <a16:creationId xmlns:a16="http://schemas.microsoft.com/office/drawing/2014/main" id="{1C58D0FC-45DB-3403-CBB3-E9728B18E49B}"/>
              </a:ext>
            </a:extLst>
          </p:cNvPr>
          <p:cNvPicPr>
            <a:picLocks noChangeAspect="1"/>
          </p:cNvPicPr>
          <p:nvPr/>
        </p:nvPicPr>
        <p:blipFill>
          <a:blip r:embed="rId3"/>
          <a:stretch>
            <a:fillRect/>
          </a:stretch>
        </p:blipFill>
        <p:spPr>
          <a:xfrm>
            <a:off x="563722" y="1303264"/>
            <a:ext cx="4969332" cy="516865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6809DF39-DCD5-6592-FB8D-90682182E95E}"/>
              </a:ext>
            </a:extLst>
          </p:cNvPr>
          <p:cNvPicPr>
            <a:picLocks noChangeAspect="1"/>
          </p:cNvPicPr>
          <p:nvPr/>
        </p:nvPicPr>
        <p:blipFill>
          <a:blip r:embed="rId4"/>
          <a:stretch>
            <a:fillRect/>
          </a:stretch>
        </p:blipFill>
        <p:spPr>
          <a:xfrm>
            <a:off x="5897653" y="245840"/>
            <a:ext cx="5273497" cy="62260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92E2FE84-A226-333C-F194-C6F637C39568}"/>
              </a:ext>
            </a:extLst>
          </p:cNvPr>
          <p:cNvPicPr>
            <a:picLocks noChangeAspect="1"/>
          </p:cNvPicPr>
          <p:nvPr/>
        </p:nvPicPr>
        <p:blipFill>
          <a:blip r:embed="rId3"/>
          <a:stretch>
            <a:fillRect/>
          </a:stretch>
        </p:blipFill>
        <p:spPr>
          <a:xfrm>
            <a:off x="6096000" y="376925"/>
            <a:ext cx="4816257" cy="6104149"/>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0E54B18F-105C-81EC-9648-B472F23E6ABC}"/>
              </a:ext>
            </a:extLst>
          </p:cNvPr>
          <p:cNvPicPr>
            <a:picLocks noChangeAspect="1"/>
          </p:cNvPicPr>
          <p:nvPr/>
        </p:nvPicPr>
        <p:blipFill>
          <a:blip r:embed="rId4"/>
          <a:stretch>
            <a:fillRect/>
          </a:stretch>
        </p:blipFill>
        <p:spPr>
          <a:xfrm>
            <a:off x="920677" y="1432792"/>
            <a:ext cx="4584383" cy="49284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F76BD04-4F79-C45C-39D2-7A7B6D2CCF79}"/>
              </a:ext>
            </a:extLst>
          </p:cNvPr>
          <p:cNvSpPr txBox="1"/>
          <p:nvPr/>
        </p:nvSpPr>
        <p:spPr>
          <a:xfrm>
            <a:off x="978159" y="1032649"/>
            <a:ext cx="10235682" cy="5632311"/>
          </a:xfrm>
          <a:prstGeom prst="rect">
            <a:avLst/>
          </a:prstGeom>
          <a:noFill/>
        </p:spPr>
        <p:txBody>
          <a:bodyPr wrap="square">
            <a:spAutoFit/>
          </a:bodyPr>
          <a:lstStyle/>
          <a:p>
            <a:pPr>
              <a:buNone/>
            </a:pPr>
            <a:r>
              <a:rPr lang="en-US" dirty="0"/>
              <a:t>The project can be extended using:</a:t>
            </a:r>
          </a:p>
          <a:p>
            <a:pPr>
              <a:buNone/>
            </a:pPr>
            <a:r>
              <a:rPr lang="en-US" b="1" dirty="0"/>
              <a:t>Predictive Analytics</a:t>
            </a:r>
          </a:p>
          <a:p>
            <a:pPr lvl="1"/>
            <a:r>
              <a:rPr lang="en-US" dirty="0"/>
              <a:t>Develop models to predict:</a:t>
            </a:r>
          </a:p>
          <a:p>
            <a:pPr lvl="1">
              <a:buFont typeface="Arial" panose="020B0604020202020204" pitchFamily="34" charset="0"/>
              <a:buChar char="•"/>
            </a:pPr>
            <a:r>
              <a:rPr lang="en-US" dirty="0"/>
              <a:t>Crop yield </a:t>
            </a:r>
          </a:p>
          <a:p>
            <a:pPr lvl="1">
              <a:buFont typeface="Arial" panose="020B0604020202020204" pitchFamily="34" charset="0"/>
              <a:buChar char="•"/>
            </a:pPr>
            <a:r>
              <a:rPr lang="en-US" dirty="0"/>
              <a:t>Profit </a:t>
            </a:r>
          </a:p>
          <a:p>
            <a:pPr lvl="1">
              <a:buFont typeface="Arial" panose="020B0604020202020204" pitchFamily="34" charset="0"/>
              <a:buChar char="•"/>
            </a:pPr>
            <a:r>
              <a:rPr lang="en-US" dirty="0"/>
              <a:t>Seasonal performance </a:t>
            </a:r>
          </a:p>
          <a:p>
            <a:pPr>
              <a:buNone/>
            </a:pPr>
            <a:r>
              <a:rPr lang="en-US" b="1" dirty="0"/>
              <a:t>Interactive Dashboard</a:t>
            </a:r>
          </a:p>
          <a:p>
            <a:pPr lvl="1"/>
            <a:r>
              <a:rPr lang="en-US" dirty="0"/>
              <a:t>Build a Power BI/Tableau dashboard for:</a:t>
            </a:r>
          </a:p>
          <a:p>
            <a:pPr lvl="1">
              <a:buFont typeface="Arial" panose="020B0604020202020204" pitchFamily="34" charset="0"/>
              <a:buChar char="•"/>
            </a:pPr>
            <a:r>
              <a:rPr lang="en-US" dirty="0"/>
              <a:t>Season filtering </a:t>
            </a:r>
          </a:p>
          <a:p>
            <a:pPr lvl="1">
              <a:buFont typeface="Arial" panose="020B0604020202020204" pitchFamily="34" charset="0"/>
              <a:buChar char="•"/>
            </a:pPr>
            <a:r>
              <a:rPr lang="en-US" dirty="0"/>
              <a:t>State comparison </a:t>
            </a:r>
          </a:p>
          <a:p>
            <a:pPr lvl="1">
              <a:buFont typeface="Arial" panose="020B0604020202020204" pitchFamily="34" charset="0"/>
              <a:buChar char="•"/>
            </a:pPr>
            <a:r>
              <a:rPr lang="en-US" dirty="0"/>
              <a:t>Crop comparison </a:t>
            </a:r>
          </a:p>
          <a:p>
            <a:pPr lvl="1">
              <a:buFont typeface="Arial" panose="020B0604020202020204" pitchFamily="34" charset="0"/>
              <a:buChar char="•"/>
            </a:pPr>
            <a:r>
              <a:rPr lang="en-US" dirty="0"/>
              <a:t>KPI monitoring </a:t>
            </a:r>
          </a:p>
          <a:p>
            <a:pPr>
              <a:buNone/>
            </a:pPr>
            <a:r>
              <a:rPr lang="en-US" b="1" dirty="0"/>
              <a:t>External Data Integration</a:t>
            </a:r>
          </a:p>
          <a:p>
            <a:pPr lvl="1"/>
            <a:r>
              <a:rPr lang="en-US" dirty="0"/>
              <a:t>Future versions could incorporate:</a:t>
            </a:r>
          </a:p>
          <a:p>
            <a:pPr lvl="1">
              <a:buFont typeface="Arial" panose="020B0604020202020204" pitchFamily="34" charset="0"/>
              <a:buChar char="•"/>
            </a:pPr>
            <a:r>
              <a:rPr lang="en-US" dirty="0"/>
              <a:t>Weather data </a:t>
            </a:r>
          </a:p>
          <a:p>
            <a:pPr lvl="1">
              <a:buFont typeface="Arial" panose="020B0604020202020204" pitchFamily="34" charset="0"/>
              <a:buChar char="•"/>
            </a:pPr>
            <a:r>
              <a:rPr lang="en-US" dirty="0"/>
              <a:t>Satellite information </a:t>
            </a:r>
          </a:p>
          <a:p>
            <a:pPr lvl="1">
              <a:buFont typeface="Arial" panose="020B0604020202020204" pitchFamily="34" charset="0"/>
              <a:buChar char="•"/>
            </a:pPr>
            <a:r>
              <a:rPr lang="en-US" dirty="0"/>
              <a:t>Soil datasets </a:t>
            </a:r>
          </a:p>
          <a:p>
            <a:pPr lvl="1">
              <a:buFont typeface="Arial" panose="020B0604020202020204" pitchFamily="34" charset="0"/>
              <a:buChar char="•"/>
            </a:pPr>
            <a:r>
              <a:rPr lang="en-US" dirty="0"/>
              <a:t>Market-price time series </a:t>
            </a:r>
          </a:p>
          <a:p>
            <a:pPr>
              <a:buNone/>
            </a:pPr>
            <a:r>
              <a:rPr lang="en-US" b="1" dirty="0"/>
              <a:t>Recommendation System</a:t>
            </a:r>
          </a:p>
          <a:p>
            <a:pPr>
              <a:buNone/>
            </a:pPr>
            <a:r>
              <a:rPr lang="en-US" dirty="0"/>
              <a:t>Develop a system that recommends suitable crop-season strategies based on historical data.</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EA10ECD-E848-AB86-7BC6-49E8797720AC}"/>
              </a:ext>
            </a:extLst>
          </p:cNvPr>
          <p:cNvSpPr txBox="1"/>
          <p:nvPr/>
        </p:nvSpPr>
        <p:spPr>
          <a:xfrm>
            <a:off x="675957" y="1941449"/>
            <a:ext cx="6326155" cy="646331"/>
          </a:xfrm>
          <a:prstGeom prst="rect">
            <a:avLst/>
          </a:prstGeom>
          <a:noFill/>
        </p:spPr>
        <p:txBody>
          <a:bodyPr wrap="square">
            <a:spAutoFit/>
          </a:bodyPr>
          <a:lstStyle/>
          <a:p>
            <a:r>
              <a:rPr lang="en-US" dirty="0">
                <a:hlinkClick r:id="rId3"/>
              </a:rPr>
              <a:t>https://github.com/shraddhakharade126/Seasonal-Agriculture-Performance-Analysis.git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91543D3-156C-406A-6C41-70AF6599CCE8}"/>
              </a:ext>
            </a:extLst>
          </p:cNvPr>
          <p:cNvPicPr>
            <a:picLocks noChangeAspect="1"/>
          </p:cNvPicPr>
          <p:nvPr/>
        </p:nvPicPr>
        <p:blipFill>
          <a:blip r:embed="rId3"/>
          <a:stretch>
            <a:fillRect/>
          </a:stretch>
        </p:blipFill>
        <p:spPr>
          <a:xfrm>
            <a:off x="1474834" y="1464906"/>
            <a:ext cx="7295942" cy="51500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275502" y="207935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607</TotalTime>
  <Words>482</Words>
  <Application>Microsoft Office PowerPoint</Application>
  <PresentationFormat>Widescreen</PresentationFormat>
  <Paragraphs>73</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Shraddha Kharade</cp:lastModifiedBy>
  <cp:revision>105</cp:revision>
  <dcterms:created xsi:type="dcterms:W3CDTF">2021-07-11T13:13:15Z</dcterms:created>
  <dcterms:modified xsi:type="dcterms:W3CDTF">2026-09-05T20:44:04Z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